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ohnbuckman/iwish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johnbuckman/iwish/tree/ios9-armv7" TargetMode="Externa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johnbuckman/iwish/blob/main/INSTALL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johnbuckman/iwish" TargetMode="External"/><Relationship Id="rId2" Type="http://schemas.openxmlformats.org/officeDocument/2006/relationships/hyperlink" Target="https://github.com/johnbuckman/iwish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515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EUROTCL 2026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1444752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EA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iWish for iOS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2724912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real Tcl/Tk applications on iPhone and iPad — from the newest devices back to iOS 9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349240" y="1353312"/>
            <a:ext cx="3374136" cy="2395728"/>
          </a:xfrm>
          <a:prstGeom prst="roundRect">
            <a:avLst>
              <a:gd name="adj" fmla="val 2290"/>
            </a:avLst>
          </a:prstGeom>
          <a:solidFill>
            <a:srgbClr val="1E2632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2000"/>
              </a:srgbClr>
            </a:outerShdw>
          </a:effectLst>
        </p:spPr>
      </p:sp>
      <p:pic>
        <p:nvPicPr>
          <p:cNvPr id="6" name="Image 0" descr="iWish on an iPad: the borg device bridge, a BLE debugger connected to a scale and DE1, and a wish conso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1417320"/>
            <a:ext cx="3246120" cy="2267712"/>
          </a:xfrm>
          <a:prstGeom prst="rect">
            <a:avLst/>
          </a:prstGeom>
        </p:spPr>
      </p:pic>
      <p:sp>
        <p:nvSpPr>
          <p:cNvPr id="7" name="Text 4">
            <a:hlinkClick r:id="rId2" tooltip=""/>
          </p:cNvPr>
          <p:cNvSpPr/>
          <p:nvPr/>
        </p:nvSpPr>
        <p:spPr>
          <a:xfrm>
            <a:off x="502920" y="402336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u="sng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https://github.com/johnbuckman/iwish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4370832"/>
            <a:ext cx="2743200" cy="0"/>
          </a:xfrm>
          <a:prstGeom prst="line">
            <a:avLst/>
          </a:prstGeom>
          <a:noFill/>
          <a:ln w="12700">
            <a:solidFill>
              <a:srgbClr val="313B4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4480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Buckman</a:t>
            </a:r>
            <a:pPr algn="l" indent="0" marL="0">
              <a:buNone/>
            </a:pPr>
            <a:r>
              <a:rPr lang="en-US" sz="13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EuroTcl 2026 · Vienna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EC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Tcl/Tk runs everywhere — except in your pocket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 is a first-class GUI toolkit on Linux, macOS and Windows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has been the great blank spot for two decades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AndroWish brought Tk to Android via SDL2 — iOS stayed out of reach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Apple's rules: no JIT, static linking, code-signing, sandboxing</a:t>
            </a:r>
            <a:endParaRPr lang="en-US" sz="15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the users we care about carry iPhones and iPads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23560" y="1554480"/>
            <a:ext cx="3017520" cy="2788920"/>
          </a:xfrm>
          <a:prstGeom prst="roundRect">
            <a:avLst>
              <a:gd name="adj" fmla="val 2951"/>
            </a:avLst>
          </a:prstGeom>
          <a:solidFill>
            <a:srgbClr val="0F14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897880" y="1801368"/>
            <a:ext cx="658368" cy="658368"/>
          </a:xfrm>
          <a:prstGeom prst="ellipse">
            <a:avLst/>
          </a:prstGeom>
          <a:solidFill>
            <a:srgbClr val="E8552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9056" y="1972544"/>
            <a:ext cx="316017" cy="316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2084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897880" y="2651760"/>
            <a:ext cx="2514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</a:t>
            </a:r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binary that launches your existing Tcl/Tk app on iOS — no rewrite, no web view.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4736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EuroTcl 2026</a:t>
            </a:r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iWish for iOS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229600" y="47365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313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02920" y="260604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EA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AndroWish to iWish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36118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SDL2-backed Tk that already crossed one mobile platform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55280" y="3749040"/>
            <a:ext cx="510235" cy="822960"/>
          </a:xfrm>
          <a:prstGeom prst="line">
            <a:avLst/>
          </a:prstGeom>
          <a:noFill/>
          <a:ln w="30480">
            <a:solidFill>
              <a:srgbClr val="E8552D">
                <a:alpha val="9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86954" y="3880714"/>
            <a:ext cx="246888" cy="0"/>
          </a:xfrm>
          <a:prstGeom prst="line">
            <a:avLst/>
          </a:prstGeom>
          <a:noFill/>
          <a:ln w="25400">
            <a:solidFill>
              <a:srgbClr val="E8552D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5709" y="4078224"/>
            <a:ext cx="246888" cy="0"/>
          </a:xfrm>
          <a:prstGeom prst="line">
            <a:avLst/>
          </a:prstGeom>
          <a:noFill/>
          <a:ln w="25400">
            <a:solidFill>
              <a:srgbClr val="E8552D">
                <a:alpha val="9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4464" y="4275734"/>
            <a:ext cx="230429" cy="0"/>
          </a:xfrm>
          <a:prstGeom prst="line">
            <a:avLst/>
          </a:prstGeom>
          <a:noFill/>
          <a:ln w="25400">
            <a:solidFill>
              <a:srgbClr val="E8552D">
                <a:alpha val="9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EC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Standing on the shoulders of undroidwish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2615184" cy="2468880"/>
          </a:xfrm>
          <a:prstGeom prst="roundRect">
            <a:avLst>
              <a:gd name="adj" fmla="val 3333"/>
            </a:avLst>
          </a:prstGeom>
          <a:solidFill>
            <a:srgbClr val="0F14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883664"/>
            <a:ext cx="548640" cy="548640"/>
          </a:xfrm>
          <a:prstGeom prst="ellipse">
            <a:avLst/>
          </a:prstGeom>
          <a:solidFill>
            <a:srgbClr val="1FB3A6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598" y="2026310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25968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AndroWish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8952" y="2980944"/>
            <a:ext cx="21031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Tcl/Tk on Android via SDL2. Proved that Tk's render loop can live on a mobile GPU surface and touch input.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55848" y="1645920"/>
            <a:ext cx="2615184" cy="2468880"/>
          </a:xfrm>
          <a:prstGeom prst="roundRect">
            <a:avLst>
              <a:gd name="adj" fmla="val 3333"/>
            </a:avLst>
          </a:prstGeom>
          <a:solidFill>
            <a:srgbClr val="0F14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883664"/>
            <a:ext cx="548640" cy="548640"/>
          </a:xfrm>
          <a:prstGeom prst="ellipse">
            <a:avLst/>
          </a:prstGeom>
          <a:solidFill>
            <a:srgbClr val="F2B23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526" y="2026310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5968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undroidwish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11880" y="2980944"/>
            <a:ext cx="21031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desktop single-file 'vwish' built on the same SDL2 core — the launch pad for new targets, including arm64 macOS.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08776" y="1645920"/>
            <a:ext cx="2615184" cy="2468880"/>
          </a:xfrm>
          <a:prstGeom prst="roundRect">
            <a:avLst>
              <a:gd name="adj" fmla="val 3333"/>
            </a:avLst>
          </a:prstGeom>
          <a:solidFill>
            <a:srgbClr val="0F14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64808" y="1883664"/>
            <a:ext cx="548640" cy="548640"/>
          </a:xfrm>
          <a:prstGeom prst="ellipse">
            <a:avLst/>
          </a:prstGeom>
          <a:solidFill>
            <a:srgbClr val="E8552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454" y="2026310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64808" y="25968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iWish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64808" y="2980944"/>
            <a:ext cx="21031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iOS target: statically linked, code-signed, App-Store-shaped — carrying Tk, extensions and demos in one bundle.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02920" y="4736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EuroTcl 2026</a:t>
            </a:r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iWish for iOS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8229600" y="47365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EC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stack folds onto iOS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4937760" cy="566928"/>
          </a:xfrm>
          <a:prstGeom prst="roundRect">
            <a:avLst>
              <a:gd name="adj" fmla="val 9677"/>
            </a:avLst>
          </a:prstGeom>
          <a:solidFill>
            <a:srgbClr val="E8552D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0020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Tcl/Tk application  ·  profiles, skins, demos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258568"/>
            <a:ext cx="4937760" cy="566928"/>
          </a:xfrm>
          <a:prstGeom prst="roundRect">
            <a:avLst>
              <a:gd name="adj" fmla="val 9677"/>
            </a:avLst>
          </a:prstGeom>
          <a:solidFill>
            <a:srgbClr val="C43E1C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25856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 widgets + canvas  ·  Tcl 8.6 core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916936"/>
            <a:ext cx="4937760" cy="566928"/>
          </a:xfrm>
          <a:prstGeom prst="roundRect">
            <a:avLst>
              <a:gd name="adj" fmla="val 9677"/>
            </a:avLst>
          </a:prstGeom>
          <a:solidFill>
            <a:srgbClr val="1FB3A6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91693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SDL2  ·  window, events, GPU surface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575304"/>
            <a:ext cx="4937760" cy="566928"/>
          </a:xfrm>
          <a:prstGeom prst="roundRect">
            <a:avLst>
              <a:gd name="adj" fmla="val 9677"/>
            </a:avLst>
          </a:prstGeom>
          <a:solidFill>
            <a:srgbClr val="0E7C74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57530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/ UIKit  ·  iOS app lifecycle + sandbox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669280" y="164592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Statically linked — no dlopen, satisfies Apple's rules</a:t>
            </a:r>
            <a:endParaRPr lang="en-US" sz="14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 draws into an SDL2 texture, presented by Metal</a:t>
            </a:r>
            <a:endParaRPr lang="en-US" sz="14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Touches, keyboard and pencil arrive as SDL events</a:t>
            </a:r>
            <a:endParaRPr lang="en-US" sz="14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app is one signed .ipa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4736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EuroTcl 2026</a:t>
            </a:r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iWish for iOS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7365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EC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Batteries included — always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4709160" cy="2743200"/>
          </a:xfrm>
          <a:prstGeom prst="roundRect">
            <a:avLst>
              <a:gd name="adj" fmla="val 3000"/>
            </a:avLst>
          </a:prstGeom>
          <a:solidFill>
            <a:srgbClr val="0F14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ship a bare wish.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iWish bundle carries the extensions and demo apps a Tcl developer expects — so it runs something the moment it launches.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532120" y="1737360"/>
            <a:ext cx="896112" cy="457200"/>
          </a:xfrm>
          <a:prstGeom prst="roundRect">
            <a:avLst>
              <a:gd name="adj" fmla="val 16000"/>
            </a:avLst>
          </a:prstGeom>
          <a:solidFill>
            <a:srgbClr val="1E2632"/>
          </a:solidFill>
          <a:ln/>
        </p:spPr>
      </p:sp>
      <p:sp>
        <p:nvSpPr>
          <p:cNvPr id="7" name="Text 5"/>
          <p:cNvSpPr/>
          <p:nvPr/>
        </p:nvSpPr>
        <p:spPr>
          <a:xfrm>
            <a:off x="5532120" y="173736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65392" y="1737360"/>
            <a:ext cx="896112" cy="457200"/>
          </a:xfrm>
          <a:prstGeom prst="roundRect">
            <a:avLst>
              <a:gd name="adj" fmla="val 16000"/>
            </a:avLst>
          </a:prstGeom>
          <a:solidFill>
            <a:srgbClr val="1E2632"/>
          </a:solidFill>
          <a:ln/>
        </p:spPr>
      </p:sp>
      <p:sp>
        <p:nvSpPr>
          <p:cNvPr id="9" name="Text 7"/>
          <p:cNvSpPr/>
          <p:nvPr/>
        </p:nvSpPr>
        <p:spPr>
          <a:xfrm>
            <a:off x="6565392" y="173736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598664" y="1737360"/>
            <a:ext cx="896112" cy="457200"/>
          </a:xfrm>
          <a:prstGeom prst="roundRect">
            <a:avLst>
              <a:gd name="adj" fmla="val 16000"/>
            </a:avLst>
          </a:prstGeom>
          <a:solidFill>
            <a:srgbClr val="1E2632"/>
          </a:solidFill>
          <a:ln/>
        </p:spPr>
      </p:sp>
      <p:sp>
        <p:nvSpPr>
          <p:cNvPr id="11" name="Text 9"/>
          <p:cNvSpPr/>
          <p:nvPr/>
        </p:nvSpPr>
        <p:spPr>
          <a:xfrm>
            <a:off x="7598664" y="1737360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tkpath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532120" y="2359152"/>
            <a:ext cx="896112" cy="457200"/>
          </a:xfrm>
          <a:prstGeom prst="roundRect">
            <a:avLst>
              <a:gd name="adj" fmla="val 16000"/>
            </a:avLst>
          </a:prstGeom>
          <a:solidFill>
            <a:srgbClr val="1E2632"/>
          </a:solidFill>
          <a:ln/>
        </p:spPr>
      </p:sp>
      <p:sp>
        <p:nvSpPr>
          <p:cNvPr id="13" name="Text 11"/>
          <p:cNvSpPr/>
          <p:nvPr/>
        </p:nvSpPr>
        <p:spPr>
          <a:xfrm>
            <a:off x="5532120" y="2359152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vfs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65392" y="2359152"/>
            <a:ext cx="896112" cy="457200"/>
          </a:xfrm>
          <a:prstGeom prst="roundRect">
            <a:avLst>
              <a:gd name="adj" fmla="val 16000"/>
            </a:avLst>
          </a:prstGeom>
          <a:solidFill>
            <a:srgbClr val="1E2632"/>
          </a:solidFill>
          <a:ln/>
        </p:spPr>
      </p:sp>
      <p:sp>
        <p:nvSpPr>
          <p:cNvPr id="15" name="Text 13"/>
          <p:cNvSpPr/>
          <p:nvPr/>
        </p:nvSpPr>
        <p:spPr>
          <a:xfrm>
            <a:off x="6565392" y="2359152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tdom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598664" y="2359152"/>
            <a:ext cx="896112" cy="457200"/>
          </a:xfrm>
          <a:prstGeom prst="roundRect">
            <a:avLst>
              <a:gd name="adj" fmla="val 16000"/>
            </a:avLst>
          </a:prstGeom>
          <a:solidFill>
            <a:srgbClr val="1E2632"/>
          </a:solidFill>
          <a:ln/>
        </p:spPr>
      </p:sp>
      <p:sp>
        <p:nvSpPr>
          <p:cNvPr id="17" name="Text 15"/>
          <p:cNvSpPr/>
          <p:nvPr/>
        </p:nvSpPr>
        <p:spPr>
          <a:xfrm>
            <a:off x="7598664" y="2359152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tcllib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532120" y="2980944"/>
            <a:ext cx="896112" cy="457200"/>
          </a:xfrm>
          <a:prstGeom prst="roundRect">
            <a:avLst>
              <a:gd name="adj" fmla="val 16000"/>
            </a:avLst>
          </a:prstGeom>
          <a:solidFill>
            <a:srgbClr val="1E2632"/>
          </a:solidFill>
          <a:ln/>
        </p:spPr>
      </p:sp>
      <p:sp>
        <p:nvSpPr>
          <p:cNvPr id="19" name="Text 17"/>
          <p:cNvSpPr/>
          <p:nvPr/>
        </p:nvSpPr>
        <p:spPr>
          <a:xfrm>
            <a:off x="5532120" y="2980944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65392" y="2980944"/>
            <a:ext cx="896112" cy="457200"/>
          </a:xfrm>
          <a:prstGeom prst="roundRect">
            <a:avLst>
              <a:gd name="adj" fmla="val 16000"/>
            </a:avLst>
          </a:prstGeom>
          <a:solidFill>
            <a:srgbClr val="1E2632"/>
          </a:solidFill>
          <a:ln/>
        </p:spPr>
      </p:sp>
      <p:sp>
        <p:nvSpPr>
          <p:cNvPr id="21" name="Text 19"/>
          <p:cNvSpPr/>
          <p:nvPr/>
        </p:nvSpPr>
        <p:spPr>
          <a:xfrm>
            <a:off x="6565392" y="2980944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598664" y="2980944"/>
            <a:ext cx="896112" cy="457200"/>
          </a:xfrm>
          <a:prstGeom prst="roundRect">
            <a:avLst>
              <a:gd name="adj" fmla="val 16000"/>
            </a:avLst>
          </a:prstGeom>
          <a:solidFill>
            <a:srgbClr val="1E2632"/>
          </a:solidFill>
          <a:ln/>
        </p:spPr>
      </p:sp>
      <p:sp>
        <p:nvSpPr>
          <p:cNvPr id="23" name="Text 21"/>
          <p:cNvSpPr/>
          <p:nvPr/>
        </p:nvSpPr>
        <p:spPr>
          <a:xfrm>
            <a:off x="7598664" y="2980944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E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532120" y="36210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in every build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736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EuroTcl 2026</a:t>
            </a:r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iWish for iOS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7365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EC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the way back to iOS 9 and armv7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 mini 1 and other 32-bit devices still in daily use</a:t>
            </a:r>
            <a:endParaRPr lang="en-US" sz="15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32-bit armv7 slice — no modern toolchain assumes it</a:t>
            </a:r>
            <a:endParaRPr lang="en-US" sz="15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on the old stack: solved and shipping</a:t>
            </a:r>
            <a:endParaRPr lang="en-US" sz="15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Self-update needed HTTPS on an ancient TLS — back-ported</a:t>
            </a:r>
            <a:endParaRPr lang="en-US" sz="15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u="sng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Pushed to github.com/johnbuckman/iwish · ios9-armv7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15000" y="1554480"/>
            <a:ext cx="2926080" cy="2743200"/>
          </a:xfrm>
          <a:prstGeom prst="roundRect">
            <a:avLst>
              <a:gd name="adj" fmla="val 3000"/>
            </a:avLst>
          </a:prstGeom>
          <a:solidFill>
            <a:srgbClr val="0F14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89320" y="1801368"/>
            <a:ext cx="658368" cy="658368"/>
          </a:xfrm>
          <a:prstGeom prst="ellipse">
            <a:avLst/>
          </a:prstGeom>
          <a:solidFill>
            <a:srgbClr val="1FB3A6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0496" y="1972544"/>
            <a:ext cx="316017" cy="316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12280" y="1874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 mini 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65176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hardware, iOS 9, 32-bit armv7 — running a modern Tk app in 2026.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02920" y="4736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EuroTcl 2026</a:t>
            </a:r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iWish for iOS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229600" y="47365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EC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de1app — an espresso machine in your hand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38404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 Espresso's control app is 100% Tcl/Tk</a:t>
            </a:r>
            <a:endParaRPr lang="en-US" sz="14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 of thousands of lines, live BLE to the machine</a:t>
            </a:r>
            <a:endParaRPr lang="en-US" sz="14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iWish runs it unmodified on iPhone and iPad</a:t>
            </a:r>
            <a:endParaRPr lang="en-US" sz="14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shot graphs via the accelerated canvas</a:t>
            </a:r>
            <a:endParaRPr lang="en-US" sz="14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to real customers — not a tech demo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53712" y="1490472"/>
            <a:ext cx="4151376" cy="2935224"/>
          </a:xfrm>
          <a:prstGeom prst="roundRect">
            <a:avLst>
              <a:gd name="adj" fmla="val 1869"/>
            </a:avLst>
          </a:prstGeom>
          <a:solidFill>
            <a:srgbClr val="1E2632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2000"/>
              </a:srgbClr>
            </a:outerShdw>
          </a:effectLst>
        </p:spPr>
      </p:sp>
      <p:pic>
        <p:nvPicPr>
          <p:cNvPr id="6" name="Image 0" descr="de1app running on an iPad — the A-Flow espresso profile screen with live shot contro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554480"/>
            <a:ext cx="4023360" cy="28072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4736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EuroTcl 2026</a:t>
            </a:r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iWish for iOS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9600" y="47365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EC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Would Apple approve a Tk app?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3977640" cy="2578608"/>
          </a:xfrm>
          <a:prstGeom prst="roundRect">
            <a:avLst>
              <a:gd name="adj" fmla="val 3191"/>
            </a:avLst>
          </a:prstGeom>
          <a:solidFill>
            <a:srgbClr val="0F14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755648"/>
            <a:ext cx="512064" cy="512064"/>
          </a:xfrm>
          <a:prstGeom prst="ellipse">
            <a:avLst/>
          </a:prstGeom>
          <a:solidFill>
            <a:srgbClr val="1FB3A6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089" y="1888785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99032" y="1755648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DE1 app — likely approved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77240" y="2450592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Full-featured and single-purpose</a:t>
            </a:r>
            <a:endParaRPr lang="en-US" sz="13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Polished, native-looking UI</a:t>
            </a:r>
            <a:endParaRPr lang="en-US" sz="13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to real hardware over BLE</a:t>
            </a:r>
            <a:endParaRPr lang="en-US" sz="13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— all scripts baked in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536192"/>
            <a:ext cx="3977640" cy="2578608"/>
          </a:xfrm>
          <a:prstGeom prst="roundRect">
            <a:avLst>
              <a:gd name="adj" fmla="val 3191"/>
            </a:avLst>
          </a:prstGeom>
          <a:solidFill>
            <a:srgbClr val="0F14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10912" y="1755648"/>
            <a:ext cx="512064" cy="512064"/>
          </a:xfrm>
          <a:prstGeom prst="ellipse">
            <a:avLst/>
          </a:prstGeom>
          <a:solidFill>
            <a:srgbClr val="E8552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049" y="1888785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50992" y="1755648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wish — likely refused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029200" y="2450592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2.5.2 — an app can't download or run code that changes it</a:t>
            </a:r>
            <a:endParaRPr lang="en-US" sz="13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'run any Tcl' launcher or code self-update breaks that</a:t>
            </a:r>
            <a:endParaRPr lang="en-US" sz="130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— a bare toolkit is 'minimum functionality': a dev tool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02920" y="422452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2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ship an app, not an interpreter.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02920" y="4736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EuroTcl 2026</a:t>
            </a:r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iWish for iOS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8229600" y="47365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32-BIT CATCH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EC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Jailbreak: the only way onto the mini 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Apple's signing and current Xcode can't target iOS 9 / armv7 — so the iPad mini 1 had to be jailbroken to run unsigned code.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075688"/>
            <a:ext cx="3977640" cy="2359152"/>
          </a:xfrm>
          <a:prstGeom prst="roundRect">
            <a:avLst>
              <a:gd name="adj" fmla="val 3488"/>
            </a:avLst>
          </a:prstGeom>
          <a:solidFill>
            <a:srgbClr val="0F14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2295144"/>
            <a:ext cx="512064" cy="512064"/>
          </a:xfrm>
          <a:prstGeom prst="ellipse">
            <a:avLst/>
          </a:prstGeom>
          <a:solidFill>
            <a:srgbClr val="1FB3A6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089" y="2428281"/>
            <a:ext cx="245791" cy="2457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99032" y="2295144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297180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unsigned IPAs — no account needed</a:t>
            </a:r>
            <a:endParaRPr lang="en-US" sz="1250" dirty="0"/>
          </a:p>
          <a:p>
            <a:pPr algn="l"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7-day expiry; the app just stays</a:t>
            </a:r>
            <a:endParaRPr lang="en-US" sz="1250" dirty="0"/>
          </a:p>
          <a:p>
            <a:pPr algn="l"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hardware Apple's tools dropped</a:t>
            </a:r>
            <a:endParaRPr lang="en-US" sz="1250" dirty="0"/>
          </a:p>
          <a:p>
            <a:pPr algn="l"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filesystem access for debugging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754880" y="2075688"/>
            <a:ext cx="3977640" cy="2359152"/>
          </a:xfrm>
          <a:prstGeom prst="roundRect">
            <a:avLst>
              <a:gd name="adj" fmla="val 3488"/>
            </a:avLst>
          </a:prstGeom>
          <a:solidFill>
            <a:srgbClr val="0F14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10912" y="2295144"/>
            <a:ext cx="512064" cy="512064"/>
          </a:xfrm>
          <a:prstGeom prst="ellipse">
            <a:avLst/>
          </a:prstGeom>
          <a:solidFill>
            <a:srgbClr val="E8552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049" y="2428281"/>
            <a:ext cx="245791" cy="2457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50992" y="2295144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029200" y="297180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old, exploitable devices qualify</a:t>
            </a:r>
            <a:endParaRPr lang="en-US" sz="1250" dirty="0"/>
          </a:p>
          <a:p>
            <a:pPr algn="l"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Disables Apple's security protections</a:t>
            </a:r>
            <a:endParaRPr lang="en-US" sz="1250" dirty="0"/>
          </a:p>
          <a:p>
            <a:pPr algn="l"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ask customers to do it</a:t>
            </a:r>
            <a:endParaRPr lang="en-US" sz="1250" dirty="0"/>
          </a:p>
          <a:p>
            <a:pPr algn="l"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 — a reboot or update can undo it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02920" y="4736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EuroTcl 2026</a:t>
            </a:r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iWish for iOS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8229600" y="47365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EC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BLE, the iOS way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4754880" cy="2834640"/>
          </a:xfrm>
          <a:prstGeom prst="roundRect">
            <a:avLst>
              <a:gd name="adj" fmla="val 1935"/>
            </a:avLst>
          </a:prstGeom>
          <a:solidFill>
            <a:srgbClr val="0B0F16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1907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832104" y="171907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" y="171907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6550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connect.tcl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58952" y="2011680"/>
            <a:ext cx="42976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A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 require 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2B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ble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ble scan 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ble connect 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55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$de1_mac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ble subscribe 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55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$uuid 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on_notify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2B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 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B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on_notify 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{char data} {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decode_shot </a:t>
            </a:r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855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$data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0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A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CoreBluetooth under the hood —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AA8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same ble API as desktop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05272" y="1490472"/>
            <a:ext cx="3008376" cy="2935224"/>
          </a:xfrm>
          <a:prstGeom prst="roundRect">
            <a:avLst>
              <a:gd name="adj" fmla="val 1869"/>
            </a:avLst>
          </a:prstGeom>
          <a:solidFill>
            <a:srgbClr val="1E2632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2000"/>
              </a:srgbClr>
            </a:outerShdw>
          </a:effectLst>
        </p:spPr>
      </p:sp>
      <p:pic>
        <p:nvPicPr>
          <p:cNvPr id="11" name="Image 0" descr="iWish Bluetooth LE debugger — discovered devices, GATT services and a live NOTIFY l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554480"/>
            <a:ext cx="2880360" cy="28072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4736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EuroTcl 2026</a:t>
            </a:r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iWish for iOS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229600" y="47365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EC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borg command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i="1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AndroWish's borg command — one Tcl call into the native device, now on iOS.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205740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Toast, speak, beep, vibrate — instant user feedback</a:t>
            </a:r>
            <a:endParaRPr lang="en-US" sz="15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set screen brightness</a:t>
            </a:r>
            <a:endParaRPr lang="en-US" sz="15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info: model, board, CPU ABI, OS version</a:t>
            </a:r>
            <a:endParaRPr lang="en-US" sz="15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borg your AndroWish code already calls</a:t>
            </a:r>
            <a:endParaRPr lang="en-US" sz="15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iOS frameworks behind a familiar Tcl API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33872" y="1472184"/>
            <a:ext cx="2779776" cy="2999232"/>
          </a:xfrm>
          <a:prstGeom prst="roundRect">
            <a:avLst>
              <a:gd name="adj" fmla="val 1974"/>
            </a:avLst>
          </a:prstGeom>
          <a:solidFill>
            <a:srgbClr val="1E2632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39700" dist="38100" dir="5400000">
              <a:srgbClr val="000000">
                <a:alpha val="32000"/>
              </a:srgbClr>
            </a:outerShdw>
          </a:effectLst>
        </p:spPr>
      </p:sp>
      <p:pic>
        <p:nvPicPr>
          <p:cNvPr id="7" name="Image 0" descr="borg device bridge on an iPad: Toast/Speak/Beep/Vibrate actions, screen brightness slider, and device inf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536192"/>
            <a:ext cx="2651760" cy="28712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4736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EuroTcl 2026</a:t>
            </a:r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iWish for iOS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29600" y="47365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EC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iWish covers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2651760" cy="1920240"/>
          </a:xfrm>
          <a:prstGeom prst="roundRect">
            <a:avLst>
              <a:gd name="adj" fmla="val 4286"/>
            </a:avLst>
          </a:prstGeom>
          <a:solidFill>
            <a:srgbClr val="0F14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1031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55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iOS 9 → 18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OS range, one codebase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47288" y="1828800"/>
            <a:ext cx="2651760" cy="1920240"/>
          </a:xfrm>
          <a:prstGeom prst="roundRect">
            <a:avLst>
              <a:gd name="adj" fmla="val 4286"/>
            </a:avLst>
          </a:prstGeom>
          <a:solidFill>
            <a:srgbClr val="0F14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75888" y="21031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B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armv7 + arm64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75888" y="2880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 and 64-bit device slices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91656" y="1828800"/>
            <a:ext cx="2651760" cy="1920240"/>
          </a:xfrm>
          <a:prstGeom prst="roundRect">
            <a:avLst>
              <a:gd name="adj" fmla="val 4286"/>
            </a:avLst>
          </a:prstGeom>
          <a:solidFill>
            <a:srgbClr val="0F14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20256" y="21031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2B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.ipa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620256" y="2880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App, Tk, extensions and demos bundled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4736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EuroTcl 2026</a:t>
            </a:r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iWish for iOS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7365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313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02920" y="260604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EA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&amp; shipping your own apps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36118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a tcl/Tk app onto real iPads — and living with Apple's rules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55280" y="3749040"/>
            <a:ext cx="510235" cy="822960"/>
          </a:xfrm>
          <a:prstGeom prst="line">
            <a:avLst/>
          </a:prstGeom>
          <a:noFill/>
          <a:ln w="30480">
            <a:solidFill>
              <a:srgbClr val="E8552D">
                <a:alpha val="9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86954" y="3880714"/>
            <a:ext cx="246888" cy="0"/>
          </a:xfrm>
          <a:prstGeom prst="line">
            <a:avLst/>
          </a:prstGeom>
          <a:noFill/>
          <a:ln w="25400">
            <a:solidFill>
              <a:srgbClr val="E8552D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5709" y="4078224"/>
            <a:ext cx="246888" cy="0"/>
          </a:xfrm>
          <a:prstGeom prst="line">
            <a:avLst/>
          </a:prstGeom>
          <a:noFill/>
          <a:ln w="25400">
            <a:solidFill>
              <a:srgbClr val="E8552D">
                <a:alpha val="9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4464" y="4275734"/>
            <a:ext cx="230429" cy="0"/>
          </a:xfrm>
          <a:prstGeom prst="line">
            <a:avLst/>
          </a:prstGeom>
          <a:noFill/>
          <a:ln w="25400">
            <a:solidFill>
              <a:srgbClr val="E8552D">
                <a:alpha val="9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CODE-SIGNING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EC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days free, or a year for $99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977640" cy="2761488"/>
          </a:xfrm>
          <a:prstGeom prst="roundRect">
            <a:avLst>
              <a:gd name="adj" fmla="val 2980"/>
            </a:avLst>
          </a:prstGeom>
          <a:solidFill>
            <a:srgbClr val="0F14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792224"/>
            <a:ext cx="512064" cy="512064"/>
          </a:xfrm>
          <a:prstGeom prst="ellipse">
            <a:avLst/>
          </a:prstGeom>
          <a:solidFill>
            <a:srgbClr val="E8552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089" y="1925361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99032" y="179222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Apple ID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8952" y="2423160"/>
            <a:ext cx="3465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55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days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77240" y="3127248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signed app stops launching after a week</a:t>
            </a:r>
            <a:endParaRPr lang="en-US" sz="1250" dirty="0"/>
          </a:p>
          <a:p>
            <a:pPr algn="l" marL="203200" indent="-2032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Re-sign and re-deploy every 7 days</a:t>
            </a:r>
            <a:endParaRPr lang="en-US" sz="1250" dirty="0"/>
          </a:p>
          <a:p>
            <a:pPr algn="l" marL="203200" indent="-2032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three sideloaded apps at a time</a:t>
            </a:r>
            <a:endParaRPr lang="en-US" sz="1250" dirty="0"/>
          </a:p>
          <a:p>
            <a:pPr algn="l" marL="203200" indent="-2032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for yourself and for development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754880" y="1554480"/>
            <a:ext cx="3977640" cy="2761488"/>
          </a:xfrm>
          <a:prstGeom prst="roundRect">
            <a:avLst>
              <a:gd name="adj" fmla="val 2980"/>
            </a:avLst>
          </a:prstGeom>
          <a:solidFill>
            <a:srgbClr val="0F14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10912" y="1792224"/>
            <a:ext cx="512064" cy="512064"/>
          </a:xfrm>
          <a:prstGeom prst="ellipse">
            <a:avLst/>
          </a:prstGeom>
          <a:solidFill>
            <a:srgbClr val="1FB3A6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049" y="1925361"/>
            <a:ext cx="245791" cy="2457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50992" y="179222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— $99 / year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010912" y="2423160"/>
            <a:ext cx="3465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B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year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5029200" y="3127248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stays valid a full year</a:t>
            </a:r>
            <a:endParaRPr lang="en-US" sz="1250" dirty="0"/>
          </a:p>
          <a:p>
            <a:pPr algn="l" marL="203200" indent="-2032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on up to 100 registered devices</a:t>
            </a:r>
            <a:endParaRPr lang="en-US" sz="1250" dirty="0"/>
          </a:p>
          <a:p>
            <a:pPr algn="l" marL="203200" indent="-2032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TestFlight and the App Store</a:t>
            </a:r>
            <a:endParaRPr lang="en-US" sz="1250" dirty="0"/>
          </a:p>
          <a:p>
            <a:pPr algn="l" marL="203200" indent="-2032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practical choice for real distribution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02920" y="4736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EuroTcl 2026</a:t>
            </a:r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iWish for iOS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8229600" y="47365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EC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your IPA onto other phones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27048"/>
            <a:ext cx="3977640" cy="1371600"/>
          </a:xfrm>
          <a:prstGeom prst="roundRect">
            <a:avLst>
              <a:gd name="adj" fmla="val 6000"/>
            </a:avLst>
          </a:prstGeom>
          <a:solidFill>
            <a:srgbClr val="0F14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728216"/>
            <a:ext cx="457200" cy="457200"/>
          </a:xfrm>
          <a:prstGeom prst="ellipse">
            <a:avLst/>
          </a:prstGeom>
          <a:solidFill>
            <a:srgbClr val="E8552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84708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0744" y="1709928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58952" y="2240280"/>
            <a:ext cx="34655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100 devices a year, by UDID. One-year profile, paid account.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754880" y="1527048"/>
            <a:ext cx="3977640" cy="1371600"/>
          </a:xfrm>
          <a:prstGeom prst="roundRect">
            <a:avLst>
              <a:gd name="adj" fmla="val 6000"/>
            </a:avLst>
          </a:prstGeom>
          <a:solidFill>
            <a:srgbClr val="0F14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10912" y="1728216"/>
            <a:ext cx="457200" cy="457200"/>
          </a:xfrm>
          <a:prstGeom prst="ellipse">
            <a:avLst/>
          </a:prstGeom>
          <a:solidFill>
            <a:srgbClr val="1FB3A6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784" y="1847088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32704" y="1709928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TestFlight (beta)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010912" y="2240280"/>
            <a:ext cx="34655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10,000 testers, but a beta review first; builds expire in 90 days.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02920" y="3081528"/>
            <a:ext cx="3977640" cy="1371600"/>
          </a:xfrm>
          <a:prstGeom prst="roundRect">
            <a:avLst>
              <a:gd name="adj" fmla="val 6000"/>
            </a:avLst>
          </a:prstGeom>
          <a:solidFill>
            <a:srgbClr val="0F14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58952" y="3282696"/>
            <a:ext cx="457200" cy="457200"/>
          </a:xfrm>
          <a:prstGeom prst="ellipse">
            <a:avLst/>
          </a:prstGeom>
          <a:solidFill>
            <a:srgbClr val="F2B23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3401568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80744" y="3264408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· $299/yr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758952" y="3794760"/>
            <a:ext cx="34655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apps for your own staff only — never the public, or Apple revokes it.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754880" y="3081528"/>
            <a:ext cx="3977640" cy="1371600"/>
          </a:xfrm>
          <a:prstGeom prst="roundRect">
            <a:avLst>
              <a:gd name="adj" fmla="val 6000"/>
            </a:avLst>
          </a:prstGeom>
          <a:solidFill>
            <a:srgbClr val="0F14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010912" y="3282696"/>
            <a:ext cx="457200" cy="457200"/>
          </a:xfrm>
          <a:prstGeom prst="ellipse">
            <a:avLst/>
          </a:prstGeom>
          <a:solidFill>
            <a:srgbClr val="C43E1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9784" y="3401568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32704" y="3264408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5010912" y="3794760"/>
            <a:ext cx="34655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Widest reach, but full review — every guideline applies to you.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02920" y="4736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EuroTcl 2026</a:t>
            </a:r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iWish for iOS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229600" y="47365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EC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ways onto your iPad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18488"/>
          <a:ext cx="81381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  <a:gridCol w="228600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3E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need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3E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3E1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CE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Sideloadly + prebuilt .ipa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CE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 or Windows + Apple 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CE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days free · 1 year paid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CE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AltStore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CE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computer on the same Wi-Fi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CE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Renews weekly by itself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CE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from source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CE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 + Xcode toolchain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CE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days free · 1 year paid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CE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web distribution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CE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EU device — no computer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CEF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3708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guide:  </a:t>
            </a:r>
            <a:pPr algn="l" indent="0" marL="0">
              <a:buNone/>
            </a:pPr>
            <a:r>
              <a:rPr lang="en-US" sz="1200" b="1" u="sng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github.com/johnbuckman/iwish/blob/main/INSTALL.md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4736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EuroTcl 2026</a:t>
            </a:r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iWish for iOS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229600" y="47365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 · SIDELOADLY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EC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simple one-time install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27048"/>
            <a:ext cx="402336" cy="402336"/>
          </a:xfrm>
          <a:prstGeom prst="ellipse">
            <a:avLst/>
          </a:prstGeom>
          <a:solidFill>
            <a:srgbClr val="E8552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527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69848" y="149047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Sideloadly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9848" y="177393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 it free from sideloadly.io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075688"/>
            <a:ext cx="402336" cy="402336"/>
          </a:xfrm>
          <a:prstGeom prst="ellipse">
            <a:avLst/>
          </a:prstGeom>
          <a:solidFill>
            <a:srgbClr val="E8552D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075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69848" y="203911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only: add Apple's iTunes + iCloud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69848" y="232257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versions from apple.com — not the Microsoft Store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2624328"/>
            <a:ext cx="402336" cy="402336"/>
          </a:xfrm>
          <a:prstGeom prst="ellipse">
            <a:avLst/>
          </a:prstGeom>
          <a:solidFill>
            <a:srgbClr val="E8552D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624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69848" y="258775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iPad over USB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69848" y="287121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it and trust the computer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172968"/>
            <a:ext cx="402336" cy="402336"/>
          </a:xfrm>
          <a:prstGeom prst="ellipse">
            <a:avLst/>
          </a:prstGeom>
          <a:solidFill>
            <a:srgbClr val="E8552D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172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69848" y="313639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in the .ipa and sign in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69848" y="341985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Sideloadly signs it with your Apple ID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3721608"/>
            <a:ext cx="402336" cy="402336"/>
          </a:xfrm>
          <a:prstGeom prst="ellipse">
            <a:avLst/>
          </a:prstGeom>
          <a:solidFill>
            <a:srgbClr val="E8552D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721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69848" y="36850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the certificate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69848" y="396849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General → VPN &amp; Device Management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431596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F2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Apple ID → repeat every 7 days.  Paid account → once a year.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" y="4736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EuroTcl 2026</a:t>
            </a:r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iWish for iOS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7365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 · ALTSTORE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EC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it and forget the 7-day dance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420624" cy="420624"/>
          </a:xfrm>
          <a:prstGeom prst="ellipse">
            <a:avLst/>
          </a:prstGeom>
          <a:solidFill>
            <a:srgbClr val="1FB3A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06424" y="15819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AltServer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06424" y="18928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Mac or PC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377440"/>
            <a:ext cx="420624" cy="420624"/>
          </a:xfrm>
          <a:prstGeom prst="ellipse">
            <a:avLst/>
          </a:prstGeom>
          <a:solidFill>
            <a:srgbClr val="1FB3A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377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06424" y="23591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AltStore onto the iPad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106424" y="26700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AltServer pushes it across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154680"/>
            <a:ext cx="420624" cy="420624"/>
          </a:xfrm>
          <a:prstGeom prst="ellipse">
            <a:avLst/>
          </a:prstGeom>
          <a:solidFill>
            <a:srgbClr val="1FB3A6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54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06424" y="313639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iWish .ipa in AltStore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106424" y="34472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installs from the device itself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0" y="1600200"/>
            <a:ext cx="2971800" cy="2514600"/>
          </a:xfrm>
          <a:prstGeom prst="roundRect">
            <a:avLst>
              <a:gd name="adj" fmla="val 3273"/>
            </a:avLst>
          </a:prstGeom>
          <a:solidFill>
            <a:srgbClr val="141A24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0" y="1856232"/>
            <a:ext cx="566928" cy="566928"/>
          </a:xfrm>
          <a:prstGeom prst="ellipse">
            <a:avLst/>
          </a:prstGeom>
          <a:solidFill>
            <a:srgbClr val="F2B23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1001" y="2003633"/>
            <a:ext cx="272125" cy="272125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943600" y="256946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943600" y="29718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AltServer running on the same Wi-Fi with Background App Refresh on — AltStore re-signs iWish every week, automatically.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02920" y="4736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EuroTcl 2026</a:t>
            </a:r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iWish for iOS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229600" y="47365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3 · FROM SOURCE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EC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it yourself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420624" cy="420624"/>
          </a:xfrm>
          <a:prstGeom prst="ellipse">
            <a:avLst/>
          </a:prstGeom>
          <a:solidFill>
            <a:srgbClr val="E8552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06424" y="153619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the sources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06424" y="18470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iWish, AndroWish and SDL2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267712"/>
            <a:ext cx="420624" cy="420624"/>
          </a:xfrm>
          <a:prstGeom prst="ellipse">
            <a:avLst/>
          </a:prstGeom>
          <a:solidFill>
            <a:srgbClr val="E8552D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267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06424" y="224942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patches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106424" y="25603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AndroWish + SDL2, patched for iOS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2980944"/>
            <a:ext cx="420624" cy="420624"/>
          </a:xfrm>
          <a:prstGeom prst="ellipse">
            <a:avLst/>
          </a:prstGeom>
          <a:solidFill>
            <a:srgbClr val="E8552D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980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06424" y="296265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provided build scripts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106424" y="327355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toolchain is scripted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694176"/>
            <a:ext cx="420624" cy="420624"/>
          </a:xfrm>
          <a:prstGeom prst="ellipse">
            <a:avLst/>
          </a:prstGeom>
          <a:solidFill>
            <a:srgbClr val="E8552D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694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06424" y="36758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and deploy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106424" y="39867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days free, or a year paid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0" y="1554480"/>
            <a:ext cx="2971800" cy="2651760"/>
          </a:xfrm>
          <a:prstGeom prst="roundRect">
            <a:avLst>
              <a:gd name="adj" fmla="val 3103"/>
            </a:avLst>
          </a:prstGeom>
          <a:solidFill>
            <a:srgbClr val="141A24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0" y="1801368"/>
            <a:ext cx="566928" cy="566928"/>
          </a:xfrm>
          <a:prstGeom prst="ellipse">
            <a:avLst/>
          </a:prstGeom>
          <a:solidFill>
            <a:srgbClr val="1FB3A6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1001" y="1948769"/>
            <a:ext cx="272125" cy="272125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943600" y="2514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end to end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5943600" y="2916936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Patch, build and sign with the scripts in the repo — the exact commands live in INSTALL.md.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502920" y="4736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EuroTcl 2026</a:t>
            </a:r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iWish for iOS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229600" y="47365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UNION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EC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DMA cracked sideloading open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4892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iOS 17.4, EU users can install apps from outside the App Store</a:t>
            </a:r>
            <a:endParaRPr lang="en-US" sz="14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alternative marketplaces or web distribution</a:t>
            </a:r>
            <a:endParaRPr lang="en-US" sz="14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7-day expiry, no 100-device cap — a real download</a:t>
            </a:r>
            <a:endParaRPr lang="en-US" sz="14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needs an EU-based developer entity + Apple's alternative terms</a:t>
            </a:r>
            <a:endParaRPr lang="en-US" sz="14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every app is still Notarized by Apple before it ships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0" y="1554480"/>
            <a:ext cx="2971800" cy="2743200"/>
          </a:xfrm>
          <a:prstGeom prst="roundRect">
            <a:avLst>
              <a:gd name="adj" fmla="val 3000"/>
            </a:avLst>
          </a:prstGeom>
          <a:solidFill>
            <a:srgbClr val="141A24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0" y="1783080"/>
            <a:ext cx="603504" cy="603504"/>
          </a:xfrm>
          <a:prstGeom prst="ellipse">
            <a:avLst/>
          </a:prstGeom>
          <a:solidFill>
            <a:srgbClr val="1FB3A6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0511" y="1939991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0" y="253288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Notarization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0" y="29718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security + functionality check — not a content review. But a broken or interpreter-shaped app can still be turned away here.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02920" y="4736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EuroTcl 2026</a:t>
            </a:r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iWish for iOS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229600" y="47365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FOR COLLABORATORS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ECEF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Wanted: an EU Company (or Org) to help distribute a free Tcl/Tk without limitations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96596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looking for a partner with an EU-registered company</a:t>
            </a:r>
            <a:endParaRPr lang="en-US" sz="14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…willing to sign Apple's distribution paperwork</a:t>
            </a:r>
            <a:endParaRPr lang="en-US" sz="14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we ship a notarized IPA for open sideloading</a:t>
            </a:r>
            <a:endParaRPr lang="en-US" sz="14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Europeans get iWish + the DE1 app — no 7-day expiry, no device cap</a:t>
            </a:r>
            <a:endParaRPr lang="en-US" sz="14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CE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the EU entity of record; I bring the app and the work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806440" y="1965960"/>
            <a:ext cx="2834640" cy="2331720"/>
          </a:xfrm>
          <a:prstGeom prst="roundRect">
            <a:avLst>
              <a:gd name="adj" fmla="val 3529"/>
            </a:avLst>
          </a:prstGeom>
          <a:solidFill>
            <a:srgbClr val="141A24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80760" y="2221992"/>
            <a:ext cx="603504" cy="603504"/>
          </a:xfrm>
          <a:prstGeom prst="ellipse">
            <a:avLst/>
          </a:prstGeom>
          <a:solidFill>
            <a:srgbClr val="E8552D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7671" y="2378903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80760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talk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080760" y="344728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me at EuroTcl — during the break or after the talk.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4736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EuroTcl 2026</a:t>
            </a:r>
            <a:pPr algn="l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iWish for iOS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229600" y="47365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502920"/>
            <a:ext cx="737006" cy="1188720"/>
          </a:xfrm>
          <a:prstGeom prst="line">
            <a:avLst/>
          </a:prstGeom>
          <a:noFill/>
          <a:ln w="30480">
            <a:solidFill>
              <a:srgbClr val="E8552D">
                <a:alpha val="9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71155" y="693115"/>
            <a:ext cx="356616" cy="0"/>
          </a:xfrm>
          <a:prstGeom prst="line">
            <a:avLst/>
          </a:prstGeom>
          <a:noFill/>
          <a:ln w="25400">
            <a:solidFill>
              <a:srgbClr val="E8552D">
                <a:alpha val="9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3802" y="978408"/>
            <a:ext cx="356616" cy="0"/>
          </a:xfrm>
          <a:prstGeom prst="line">
            <a:avLst/>
          </a:prstGeom>
          <a:noFill/>
          <a:ln w="25400">
            <a:solidFill>
              <a:srgbClr val="E8552D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56448" y="1263701"/>
            <a:ext cx="332842" cy="0"/>
          </a:xfrm>
          <a:prstGeom prst="line">
            <a:avLst/>
          </a:prstGeom>
          <a:noFill/>
          <a:ln w="25400">
            <a:solidFill>
              <a:srgbClr val="E8552D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EA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Tcl/Tk app already runs on iOS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02920" y="260604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u="sng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github.com/johnbuckman/iwish — source and the ios9-armv7 branch</a:t>
            </a:r>
            <a:endParaRPr lang="en-US" sz="15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wish app; iWish supplies the runtime</a:t>
            </a:r>
            <a:endParaRPr lang="en-US" sz="150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9A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an EU company? Let's ship a sideloadable IPA together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4315968"/>
            <a:ext cx="2743200" cy="0"/>
          </a:xfrm>
          <a:prstGeom prst="line">
            <a:avLst/>
          </a:prstGeom>
          <a:noFill/>
          <a:ln w="12700">
            <a:solidFill>
              <a:srgbClr val="313B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Buckman</a:t>
            </a:r>
            <a:pPr algn="l" indent="0" marL="0">
              <a:buNone/>
            </a:pPr>
            <a:r>
              <a:rPr lang="en-US" sz="1300" u="sng" dirty="0">
                <a:solidFill>
                  <a:srgbClr val="E8552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  github.com/johnbuckman/iwish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iWish for iOS</dc:title>
  <dc:subject>PptxGenJS Presentation</dc:subject>
  <dc:creator>John Buckman</dc:creator>
  <cp:lastModifiedBy>John Buckman</cp:lastModifiedBy>
  <cp:revision>1</cp:revision>
  <dcterms:created xsi:type="dcterms:W3CDTF">2026-07-10T12:52:09Z</dcterms:created>
  <dcterms:modified xsi:type="dcterms:W3CDTF">2026-07-10T12:52:09Z</dcterms:modified>
</cp:coreProperties>
</file>